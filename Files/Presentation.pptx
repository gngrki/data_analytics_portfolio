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8" r:id="rId1"/>
  </p:sldMasterIdLst>
  <p:sldIdLst>
    <p:sldId id="256" r:id="rId2"/>
    <p:sldId id="258" r:id="rId3"/>
    <p:sldId id="259" r:id="rId4"/>
    <p:sldId id="261" r:id="rId5"/>
    <p:sldId id="266" r:id="rId6"/>
    <p:sldId id="265" r:id="rId7"/>
    <p:sldId id="268" r:id="rId8"/>
    <p:sldId id="267" r:id="rId9"/>
    <p:sldId id="264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94"/>
  </p:normalViewPr>
  <p:slideViewPr>
    <p:cSldViewPr snapToGrid="0">
      <p:cViewPr varScale="1">
        <p:scale>
          <a:sx n="88" d="100"/>
          <a:sy n="88" d="100"/>
        </p:scale>
        <p:origin x="17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9108-7771-5B22-B9C0-BD2ED16C1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99BCD-09D5-B5FC-91D2-53731E183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52392-8E4E-227F-5F1A-75227E0E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00072-697C-DE57-A33E-28C6AD919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CD4DA-EE20-D40B-4F73-CD9B9EC0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6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09A5-87F8-4201-FC15-F673169A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EBBD2-5144-5133-63FE-9A412B680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EA18C-975F-293C-D5BB-232B1B9FC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356EB-509A-0DD6-3E19-58569CB8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B3333-D638-A802-B609-568C9667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9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FA1F-6C82-5397-3F85-8D273335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D688A-EC49-D651-5760-88F79E5D9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691C4-6A30-836F-2CB2-852D39E7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2235A-BF52-3BCD-52EE-3BC1C65F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A9694-7D8C-8274-53B1-02068CC2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2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ACE9-61C4-C26C-41CE-D7729F324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32EF8-69DD-FDBE-F5A5-293574C48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ACEB1-4CD9-25CC-7ECA-F03C9A1D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114DC-E508-B175-4391-C4E54EB72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FD635-D3F8-A76E-3EE3-3D6EEC3F3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A3B31-643D-E858-C78E-D3BF7118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1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8CCE-FDEE-F8F9-8896-BF55CD9D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F4FE4-1FA3-0935-D537-C738E6C0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C80C0-4C7D-36F7-E36A-5BCCF1267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DFB88-E705-2795-B2A0-767009016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93BB7-6888-276D-6235-61610BA8E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781448-61CC-C40C-485C-37143D81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2C6D66-9D97-7F3A-3B0F-1547EA0F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1D16D-5CF9-1940-A40F-007B24BB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3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FEAF-A0A8-4038-CE26-96D2F6327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501C3-2E28-26C0-709A-5912F322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C147C-33B0-9B61-427C-DA2F973C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78DBC-27A9-FA84-5225-5B15C4A4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5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E3593-86F2-51C3-A6D6-88CBC575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50CC0-9EA0-3135-EFA6-EDDB6F56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8A3F4-9455-CAA9-2F28-08020EC8A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5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6F44-A5AE-F82D-EA7C-AA559F41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4C56-A696-18CA-DE09-A0E06FEAD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5757D-F1B7-4A84-80EF-6482B7412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E2D4A-74AC-7661-E286-9ACFD5C5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581FF-6E26-734D-E7C2-69A0ADDE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C8570-4E73-DA62-6B07-A40F5CA1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2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B5B4-4F07-1CBE-D422-70D4C3C6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CD6BB-1932-9DA5-4EB4-566188C38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2A5E6-E459-8ADB-F9B5-583B49672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9B9D7-9597-1EA2-E617-F5CBDDF7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D61EE-6AA5-A53F-6433-C2793B5DA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BEB14-4065-8A09-1FFD-036CDAA4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7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5640-4EE4-2C54-E1A6-102E3BC9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369CE-3651-67C0-3883-01B71E275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B1B7A-D33D-3360-35EC-F109D593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5E0BD-FC00-8E25-8199-43168980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6F0D-7E19-4141-0E5E-C8323F04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2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C77F1E-A5AB-D76E-FEBC-0835CE31D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2D303-7DB9-13A9-0D70-F4EDF40CC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C9AE1-07A8-FB9B-4F8B-B9DC950C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F8941-D05C-19BD-8FA7-098C0D29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D9829-72AB-9260-A391-D65C9C6E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1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5F1A2-FDD7-174D-7A0E-A07C4EDB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D89F6-E179-52A3-E69E-413A6B627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AD22B-86F8-2205-9E0C-DA6B3888F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2A1A8-1923-6E4E-9E46-1E7455D3A59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A1F84-028C-4C92-93C5-0C8D34846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C600-688A-0DE1-BD4A-5E7F90B3B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DCE0C-2F60-904D-8845-1CB978AB4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9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AD32C-0D3B-9BA2-D3A5-55120DF83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en-GB" sz="5600" dirty="0">
                <a:solidFill>
                  <a:srgbClr val="FFFFFF"/>
                </a:solidFill>
              </a:rPr>
              <a:t>Elu </a:t>
            </a:r>
            <a:r>
              <a:rPr lang="en-GB" sz="5600" dirty="0" err="1">
                <a:solidFill>
                  <a:srgbClr val="FFFFFF"/>
                </a:solidFill>
              </a:rPr>
              <a:t>kui</a:t>
            </a:r>
            <a:r>
              <a:rPr lang="en-GB" sz="5600" dirty="0">
                <a:solidFill>
                  <a:srgbClr val="FFFFFF"/>
                </a:solidFill>
              </a:rPr>
              <a:t> film:</a:t>
            </a: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31F15-076D-97EE-D014-263A1201A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en-GB" sz="2000" dirty="0" err="1">
                <a:solidFill>
                  <a:srgbClr val="FFFFFF"/>
                </a:solidFill>
              </a:rPr>
              <a:t>Küsitlus</a:t>
            </a:r>
            <a:r>
              <a:rPr lang="en-GB" sz="2000" dirty="0">
                <a:solidFill>
                  <a:srgbClr val="FFFFFF"/>
                </a:solidFill>
              </a:rPr>
              <a:t>, mis </a:t>
            </a:r>
            <a:r>
              <a:rPr lang="en-GB" sz="2000" dirty="0" err="1">
                <a:solidFill>
                  <a:srgbClr val="FFFFFF"/>
                </a:solidFill>
              </a:rPr>
              <a:t>käsitleb</a:t>
            </a:r>
            <a:r>
              <a:rPr lang="en-GB" sz="2000" dirty="0">
                <a:solidFill>
                  <a:srgbClr val="FFFFFF"/>
                </a:solidFill>
              </a:rPr>
              <a:t> </a:t>
            </a:r>
            <a:r>
              <a:rPr lang="en-GB" sz="2000" dirty="0" err="1">
                <a:solidFill>
                  <a:srgbClr val="FFFFFF"/>
                </a:solidFill>
              </a:rPr>
              <a:t>inimeste</a:t>
            </a:r>
            <a:r>
              <a:rPr lang="en-GB" sz="2000" dirty="0">
                <a:solidFill>
                  <a:srgbClr val="FFFFFF"/>
                </a:solidFill>
              </a:rPr>
              <a:t> </a:t>
            </a:r>
            <a:r>
              <a:rPr lang="en-GB" sz="2000" dirty="0" err="1">
                <a:solidFill>
                  <a:srgbClr val="FFFFFF"/>
                </a:solidFill>
              </a:rPr>
              <a:t>valikute</a:t>
            </a:r>
            <a:r>
              <a:rPr lang="en-GB" sz="2000" dirty="0">
                <a:solidFill>
                  <a:srgbClr val="FFFFFF"/>
                </a:solidFill>
              </a:rPr>
              <a:t> </a:t>
            </a:r>
            <a:r>
              <a:rPr lang="en-GB" sz="2000" dirty="0" err="1">
                <a:solidFill>
                  <a:srgbClr val="FFFFFF"/>
                </a:solidFill>
              </a:rPr>
              <a:t>seost</a:t>
            </a:r>
            <a:r>
              <a:rPr lang="en-GB" sz="2000" dirty="0">
                <a:solidFill>
                  <a:srgbClr val="FFFFFF"/>
                </a:solidFill>
              </a:rPr>
              <a:t> </a:t>
            </a:r>
            <a:r>
              <a:rPr lang="en-GB" sz="2000" dirty="0" err="1">
                <a:solidFill>
                  <a:srgbClr val="FFFFFF"/>
                </a:solidFill>
              </a:rPr>
              <a:t>nende</a:t>
            </a:r>
            <a:r>
              <a:rPr lang="en-GB" sz="2000" dirty="0">
                <a:solidFill>
                  <a:srgbClr val="FFFFFF"/>
                </a:solidFill>
              </a:rPr>
              <a:t> </a:t>
            </a:r>
            <a:r>
              <a:rPr lang="en-GB" sz="2000" dirty="0" err="1">
                <a:solidFill>
                  <a:srgbClr val="FFFFFF"/>
                </a:solidFill>
              </a:rPr>
              <a:t>enesekuvandiga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6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0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DF78AC-9B27-4DAF-8790-912D259BE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893"/>
          <a:stretch>
            <a:fillRect/>
          </a:stretch>
        </p:blipFill>
        <p:spPr>
          <a:xfrm>
            <a:off x="608648" y="510582"/>
            <a:ext cx="10974703" cy="58368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F197F3-D013-FFF5-A23F-9E8F4FCA9CF1}"/>
              </a:ext>
            </a:extLst>
          </p:cNvPr>
          <p:cNvSpPr txBox="1"/>
          <p:nvPr/>
        </p:nvSpPr>
        <p:spPr>
          <a:xfrm>
            <a:off x="793820" y="622997"/>
            <a:ext cx="2098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Terviklik</a:t>
            </a:r>
            <a:r>
              <a:rPr lang="en-US" dirty="0">
                <a:solidFill>
                  <a:schemeClr val="accent1"/>
                </a:solidFill>
              </a:rPr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199832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5DDB5-7403-BCCF-900C-A0BFD4286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1910949"/>
            <a:ext cx="5221625" cy="303610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EB96-CB8A-9905-2AD4-BEDC1C977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Küsitluses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osales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kokku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16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vastajat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,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kellest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valdav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osa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olid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naised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(14).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Vanuseliselt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oli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enim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vastajaid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vanusegruppides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32–38 </a:t>
            </a:r>
            <a:r>
              <a:rPr lang="en-GB" sz="2000" dirty="0" err="1">
                <a:solidFill>
                  <a:schemeClr val="accent1">
                    <a:alpha val="80000"/>
                  </a:schemeClr>
                </a:solidFill>
              </a:rPr>
              <a:t>ja</a:t>
            </a:r>
            <a:r>
              <a:rPr lang="en-GB" sz="2000" dirty="0">
                <a:solidFill>
                  <a:schemeClr val="accent1">
                    <a:alpha val="80000"/>
                  </a:schemeClr>
                </a:solidFill>
              </a:rPr>
              <a:t> 39–45.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204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D4919E-EE60-FD22-BDFD-490FFC6F1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88" r="961" b="9404"/>
          <a:stretch>
            <a:fillRect/>
          </a:stretch>
        </p:blipFill>
        <p:spPr>
          <a:xfrm>
            <a:off x="645930" y="955290"/>
            <a:ext cx="5450067" cy="5450067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6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69FF-6EA1-A456-94CA-4E2987AA5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409" y="3425246"/>
            <a:ext cx="4195673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Enamik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vastajaid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näeb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end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pigem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aktiivse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ja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tegutseva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kangelasena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kui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strateegilise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või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sotsiaalse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alpha val="80000"/>
                  </a:schemeClr>
                </a:solidFill>
              </a:rPr>
              <a:t>juhina</a:t>
            </a:r>
            <a:r>
              <a:rPr lang="en-US" sz="2000" dirty="0">
                <a:solidFill>
                  <a:schemeClr val="accent1">
                    <a:alpha val="80000"/>
                  </a:schemeClr>
                </a:solidFill>
              </a:rPr>
              <a:t>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0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2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B322278-882A-F302-1CB6-E2E85D762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154" y="789436"/>
            <a:ext cx="3843067" cy="191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93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22206-D0FC-91C6-043D-2D82ED47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575A102-D95D-4D6E-8F1B-49EED0AE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F0FFF1F-79B6-4A13-A464-070CD6F89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42198" y="814999"/>
            <a:ext cx="465458" cy="581435"/>
            <a:chOff x="10942198" y="814999"/>
            <a:chExt cx="465458" cy="581435"/>
          </a:xfrm>
          <a:solidFill>
            <a:srgbClr val="FFFFFF"/>
          </a:solidFill>
        </p:grpSpPr>
        <p:sp>
          <p:nvSpPr>
            <p:cNvPr id="17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7738" y="81499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8550FED7-7C32-42BB-98DB-30272A633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16518" y="104429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2198" y="1268720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9322" y="6274341"/>
            <a:ext cx="11353800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1E26AA8C-2BA0-84D7-FBD4-B67CC5831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41" y="1021614"/>
            <a:ext cx="9442938" cy="5252727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52843F65-6A40-1214-81EE-FAB85FC59FC5}"/>
              </a:ext>
            </a:extLst>
          </p:cNvPr>
          <p:cNvSpPr txBox="1">
            <a:spLocks/>
          </p:cNvSpPr>
          <p:nvPr/>
        </p:nvSpPr>
        <p:spPr>
          <a:xfrm>
            <a:off x="1074423" y="178250"/>
            <a:ext cx="9770174" cy="95718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2"/>
                </a:solidFill>
              </a:rPr>
              <a:t>Kõige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rohkem</a:t>
            </a:r>
            <a:r>
              <a:rPr lang="en-US" dirty="0">
                <a:solidFill>
                  <a:schemeClr val="bg2"/>
                </a:solidFill>
              </a:rPr>
              <a:t> on </a:t>
            </a:r>
            <a:r>
              <a:rPr lang="en-US" dirty="0" err="1">
                <a:solidFill>
                  <a:schemeClr val="bg2"/>
                </a:solidFill>
              </a:rPr>
              <a:t>valitud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enda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elu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filmižanriks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seiklust</a:t>
            </a:r>
            <a:r>
              <a:rPr lang="en-US" dirty="0">
                <a:solidFill>
                  <a:schemeClr val="bg2"/>
                </a:solidFill>
              </a:rPr>
              <a:t> - 10 </a:t>
            </a:r>
            <a:r>
              <a:rPr lang="en-US" dirty="0" err="1">
                <a:solidFill>
                  <a:schemeClr val="bg2"/>
                </a:solidFill>
              </a:rPr>
              <a:t>vastajat</a:t>
            </a:r>
            <a:r>
              <a:rPr lang="en-US" dirty="0">
                <a:solidFill>
                  <a:schemeClr val="bg2"/>
                </a:solidFill>
              </a:rPr>
              <a:t>  </a:t>
            </a:r>
            <a:br>
              <a:rPr lang="en-US" dirty="0">
                <a:solidFill>
                  <a:schemeClr val="bg2"/>
                </a:solidFill>
              </a:rPr>
            </a:b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947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86BAE-81E8-1E03-1526-DB43A12E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4">
            <a:extLst>
              <a:ext uri="{FF2B5EF4-FFF2-40B4-BE49-F238E27FC236}">
                <a16:creationId xmlns:a16="http://schemas.microsoft.com/office/drawing/2014/main" id="{BA2F72C7-A140-E9F6-4328-580FD70FC1AA}"/>
              </a:ext>
            </a:extLst>
          </p:cNvPr>
          <p:cNvSpPr txBox="1">
            <a:spLocks/>
          </p:cNvSpPr>
          <p:nvPr/>
        </p:nvSpPr>
        <p:spPr>
          <a:xfrm>
            <a:off x="1430000" y="19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400" b="1" dirty="0">
                <a:solidFill>
                  <a:schemeClr val="bg2"/>
                </a:solidFill>
              </a:rPr>
              <a:t>Kas </a:t>
            </a:r>
            <a:r>
              <a:rPr lang="en-GB" sz="2400" b="1" dirty="0" err="1">
                <a:solidFill>
                  <a:schemeClr val="bg2"/>
                </a:solidFill>
              </a:rPr>
              <a:t>inimesed</a:t>
            </a:r>
            <a:r>
              <a:rPr lang="en-GB" sz="2400" b="1" dirty="0">
                <a:solidFill>
                  <a:schemeClr val="bg2"/>
                </a:solidFill>
              </a:rPr>
              <a:t> </a:t>
            </a:r>
            <a:r>
              <a:rPr lang="en-GB" sz="2400" b="1" dirty="0" err="1">
                <a:solidFill>
                  <a:schemeClr val="bg2"/>
                </a:solidFill>
              </a:rPr>
              <a:t>tahavad</a:t>
            </a:r>
            <a:r>
              <a:rPr lang="en-GB" sz="2400" b="1" dirty="0">
                <a:solidFill>
                  <a:schemeClr val="bg2"/>
                </a:solidFill>
              </a:rPr>
              <a:t> </a:t>
            </a:r>
            <a:r>
              <a:rPr lang="en-GB" sz="2400" b="1" dirty="0" err="1">
                <a:solidFill>
                  <a:schemeClr val="bg2"/>
                </a:solidFill>
              </a:rPr>
              <a:t>enda</a:t>
            </a:r>
            <a:r>
              <a:rPr lang="en-GB" sz="2400" b="1" dirty="0">
                <a:solidFill>
                  <a:schemeClr val="bg2"/>
                </a:solidFill>
              </a:rPr>
              <a:t> </a:t>
            </a:r>
            <a:r>
              <a:rPr lang="en-GB" sz="2400" b="1" dirty="0" err="1">
                <a:solidFill>
                  <a:schemeClr val="bg2"/>
                </a:solidFill>
              </a:rPr>
              <a:t>sarnast</a:t>
            </a:r>
            <a:r>
              <a:rPr lang="en-GB" sz="2400" b="1" dirty="0">
                <a:solidFill>
                  <a:schemeClr val="bg2"/>
                </a:solidFill>
              </a:rPr>
              <a:t> </a:t>
            </a:r>
            <a:r>
              <a:rPr lang="en-GB" sz="2400" b="1" dirty="0" err="1">
                <a:solidFill>
                  <a:schemeClr val="bg2"/>
                </a:solidFill>
              </a:rPr>
              <a:t>kaaslast</a:t>
            </a:r>
            <a:br>
              <a:rPr lang="en-GB" sz="2400" b="1" dirty="0">
                <a:solidFill>
                  <a:schemeClr val="bg2"/>
                </a:solidFill>
              </a:rPr>
            </a:br>
            <a:r>
              <a:rPr lang="en-GB" sz="2400" b="1" dirty="0" err="1">
                <a:solidFill>
                  <a:schemeClr val="bg2"/>
                </a:solidFill>
              </a:rPr>
              <a:t>või</a:t>
            </a:r>
            <a:r>
              <a:rPr lang="en-GB" sz="2400" dirty="0">
                <a:solidFill>
                  <a:schemeClr val="bg2"/>
                </a:solidFill>
              </a:rPr>
              <a:t> </a:t>
            </a:r>
            <a:r>
              <a:rPr lang="en-GB" sz="2400" dirty="0" err="1">
                <a:solidFill>
                  <a:schemeClr val="bg2"/>
                </a:solidFill>
              </a:rPr>
              <a:t>t</a:t>
            </a:r>
            <a:r>
              <a:rPr lang="en-GB" sz="2400" b="1" dirty="0" err="1">
                <a:solidFill>
                  <a:schemeClr val="bg2"/>
                </a:solidFill>
              </a:rPr>
              <a:t>asakaalustavat</a:t>
            </a:r>
            <a:r>
              <a:rPr lang="en-GB" sz="2400" b="1" dirty="0">
                <a:solidFill>
                  <a:schemeClr val="bg2"/>
                </a:solidFill>
              </a:rPr>
              <a:t> </a:t>
            </a:r>
            <a:r>
              <a:rPr lang="en-GB" sz="2400" b="1" dirty="0" err="1">
                <a:solidFill>
                  <a:schemeClr val="bg2"/>
                </a:solidFill>
              </a:rPr>
              <a:t>vastandit</a:t>
            </a:r>
            <a:r>
              <a:rPr lang="en-GB" sz="2400" b="1" dirty="0">
                <a:solidFill>
                  <a:schemeClr val="bg2"/>
                </a:solidFill>
              </a:rPr>
              <a:t>?</a:t>
            </a:r>
            <a:br>
              <a:rPr lang="en-GB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CAFFCC-C4B4-1A9E-EAE0-B65871070677}"/>
              </a:ext>
            </a:extLst>
          </p:cNvPr>
          <p:cNvSpPr txBox="1">
            <a:spLocks/>
          </p:cNvSpPr>
          <p:nvPr/>
        </p:nvSpPr>
        <p:spPr>
          <a:xfrm>
            <a:off x="1430000" y="1767256"/>
            <a:ext cx="3634363" cy="178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/>
                </a:solidFill>
              </a:rPr>
              <a:t>Seiklusžanri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valivatest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vastajatest</a:t>
            </a:r>
            <a:r>
              <a:rPr lang="en-US" sz="2000" dirty="0">
                <a:solidFill>
                  <a:schemeClr val="bg2"/>
                </a:solidFill>
              </a:rPr>
              <a:t> on </a:t>
            </a:r>
            <a:r>
              <a:rPr lang="en-US" sz="2000" dirty="0" err="1">
                <a:solidFill>
                  <a:schemeClr val="bg2"/>
                </a:solidFill>
              </a:rPr>
              <a:t>suurem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osa</a:t>
            </a:r>
            <a:r>
              <a:rPr lang="en-US" sz="2000" dirty="0">
                <a:solidFill>
                  <a:schemeClr val="bg2"/>
                </a:solidFill>
              </a:rPr>
              <a:t> ka </a:t>
            </a:r>
            <a:r>
              <a:rPr lang="en-US" sz="2000" dirty="0" err="1">
                <a:solidFill>
                  <a:schemeClr val="bg2"/>
                </a:solidFill>
              </a:rPr>
              <a:t>oma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kangelase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valinud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seikluslikuks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54D0C-27EB-5EA3-1599-CED08A192439}"/>
              </a:ext>
            </a:extLst>
          </p:cNvPr>
          <p:cNvSpPr txBox="1">
            <a:spLocks/>
          </p:cNvSpPr>
          <p:nvPr/>
        </p:nvSpPr>
        <p:spPr>
          <a:xfrm>
            <a:off x="5748797" y="1728791"/>
            <a:ext cx="3999235" cy="19379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>
                <a:solidFill>
                  <a:schemeClr val="bg2"/>
                </a:solidFill>
              </a:rPr>
              <a:t>Enamik</a:t>
            </a:r>
            <a:r>
              <a:rPr lang="en-US" sz="1800" dirty="0">
                <a:solidFill>
                  <a:schemeClr val="bg2"/>
                </a:solidFill>
              </a:rPr>
              <a:t> valis </a:t>
            </a:r>
            <a:r>
              <a:rPr lang="en-US" sz="1800" dirty="0" err="1">
                <a:solidFill>
                  <a:schemeClr val="bg2"/>
                </a:solidFill>
              </a:rPr>
              <a:t>sõbraks</a:t>
            </a:r>
            <a:r>
              <a:rPr lang="en-US" sz="1800" dirty="0">
                <a:solidFill>
                  <a:schemeClr val="bg2"/>
                </a:solidFill>
              </a:rPr>
              <a:t> targa </a:t>
            </a:r>
            <a:r>
              <a:rPr lang="en-US" sz="1800" dirty="0" err="1">
                <a:solidFill>
                  <a:schemeClr val="bg2"/>
                </a:solidFill>
              </a:rPr>
              <a:t>nõustaja</a:t>
            </a:r>
            <a:r>
              <a:rPr lang="en-US" sz="1800" dirty="0">
                <a:solidFill>
                  <a:schemeClr val="bg2"/>
                </a:solidFill>
              </a:rPr>
              <a:t>, mis </a:t>
            </a:r>
            <a:r>
              <a:rPr lang="en-US" sz="1800" dirty="0" err="1">
                <a:solidFill>
                  <a:schemeClr val="bg2"/>
                </a:solidFill>
              </a:rPr>
              <a:t>näitab</a:t>
            </a:r>
            <a:r>
              <a:rPr lang="en-US" sz="1800" dirty="0">
                <a:solidFill>
                  <a:schemeClr val="bg2"/>
                </a:solidFill>
              </a:rPr>
              <a:t>, et v</a:t>
            </a:r>
            <a:r>
              <a:rPr lang="en-GB" sz="1800" dirty="0" err="1">
                <a:solidFill>
                  <a:schemeClr val="bg2"/>
                </a:solidFill>
              </a:rPr>
              <a:t>astajad</a:t>
            </a:r>
            <a:r>
              <a:rPr lang="en-GB" sz="1800" dirty="0">
                <a:solidFill>
                  <a:schemeClr val="bg2"/>
                </a:solidFill>
              </a:rPr>
              <a:t> </a:t>
            </a:r>
            <a:r>
              <a:rPr lang="en-GB" sz="1800" dirty="0" err="1">
                <a:solidFill>
                  <a:schemeClr val="bg2"/>
                </a:solidFill>
              </a:rPr>
              <a:t>kujutavad</a:t>
            </a:r>
            <a:r>
              <a:rPr lang="en-GB" sz="1800" dirty="0">
                <a:solidFill>
                  <a:schemeClr val="bg2"/>
                </a:solidFill>
              </a:rPr>
              <a:t> end </a:t>
            </a:r>
            <a:r>
              <a:rPr lang="en-GB" sz="1800" dirty="0" err="1">
                <a:solidFill>
                  <a:schemeClr val="bg2"/>
                </a:solidFill>
              </a:rPr>
              <a:t>julgete</a:t>
            </a:r>
            <a:r>
              <a:rPr lang="en-GB" sz="1800" dirty="0">
                <a:solidFill>
                  <a:schemeClr val="bg2"/>
                </a:solidFill>
              </a:rPr>
              <a:t> </a:t>
            </a:r>
            <a:r>
              <a:rPr lang="en-GB" sz="1800" dirty="0" err="1">
                <a:solidFill>
                  <a:schemeClr val="bg2"/>
                </a:solidFill>
              </a:rPr>
              <a:t>tegutsejatena</a:t>
            </a:r>
            <a:r>
              <a:rPr lang="en-GB" sz="1800" dirty="0">
                <a:solidFill>
                  <a:schemeClr val="bg2"/>
                </a:solidFill>
              </a:rPr>
              <a:t>, </a:t>
            </a:r>
            <a:r>
              <a:rPr lang="en-GB" sz="1800" dirty="0" err="1">
                <a:solidFill>
                  <a:schemeClr val="bg2"/>
                </a:solidFill>
              </a:rPr>
              <a:t>kuid</a:t>
            </a:r>
            <a:r>
              <a:rPr lang="en-GB" sz="1800" dirty="0">
                <a:solidFill>
                  <a:schemeClr val="bg2"/>
                </a:solidFill>
              </a:rPr>
              <a:t> </a:t>
            </a:r>
            <a:r>
              <a:rPr lang="en-GB" sz="1800" dirty="0" err="1">
                <a:solidFill>
                  <a:schemeClr val="bg2"/>
                </a:solidFill>
              </a:rPr>
              <a:t>vajavad</a:t>
            </a:r>
            <a:r>
              <a:rPr lang="en-GB" sz="1800" dirty="0">
                <a:solidFill>
                  <a:schemeClr val="bg2"/>
                </a:solidFill>
              </a:rPr>
              <a:t> </a:t>
            </a:r>
            <a:r>
              <a:rPr lang="en-GB" sz="1800" dirty="0" err="1">
                <a:solidFill>
                  <a:schemeClr val="bg2"/>
                </a:solidFill>
              </a:rPr>
              <a:t>enda</a:t>
            </a:r>
            <a:r>
              <a:rPr lang="en-GB" sz="1800" dirty="0">
                <a:solidFill>
                  <a:schemeClr val="bg2"/>
                </a:solidFill>
              </a:rPr>
              <a:t> </a:t>
            </a:r>
            <a:r>
              <a:rPr lang="en-GB" sz="1800" dirty="0" err="1">
                <a:solidFill>
                  <a:schemeClr val="bg2"/>
                </a:solidFill>
              </a:rPr>
              <a:t>kõrvale</a:t>
            </a:r>
            <a:r>
              <a:rPr lang="en-GB" sz="1800" dirty="0">
                <a:solidFill>
                  <a:schemeClr val="bg2"/>
                </a:solidFill>
              </a:rPr>
              <a:t> </a:t>
            </a:r>
            <a:r>
              <a:rPr lang="en-GB" sz="1800" dirty="0" err="1">
                <a:solidFill>
                  <a:schemeClr val="bg2"/>
                </a:solidFill>
              </a:rPr>
              <a:t>tasakaalustavat</a:t>
            </a:r>
            <a:r>
              <a:rPr lang="en-GB" sz="1800" dirty="0">
                <a:solidFill>
                  <a:schemeClr val="bg2"/>
                </a:solidFill>
              </a:rPr>
              <a:t> </a:t>
            </a:r>
            <a:r>
              <a:rPr lang="en-GB" sz="1800" dirty="0" err="1">
                <a:solidFill>
                  <a:schemeClr val="bg2"/>
                </a:solidFill>
              </a:rPr>
              <a:t>ja</a:t>
            </a:r>
            <a:r>
              <a:rPr lang="en-GB" sz="1800" dirty="0">
                <a:solidFill>
                  <a:schemeClr val="bg2"/>
                </a:solidFill>
              </a:rPr>
              <a:t> tarka </a:t>
            </a:r>
            <a:r>
              <a:rPr lang="en-GB" sz="1800" dirty="0" err="1">
                <a:solidFill>
                  <a:schemeClr val="bg2"/>
                </a:solidFill>
              </a:rPr>
              <a:t>kaaslast</a:t>
            </a:r>
            <a:r>
              <a:rPr lang="en-GB" sz="1800" dirty="0">
                <a:solidFill>
                  <a:schemeClr val="bg2"/>
                </a:solidFill>
              </a:rPr>
              <a:t>.</a:t>
            </a:r>
            <a:endParaRPr lang="en-US" sz="1800" dirty="0">
              <a:solidFill>
                <a:schemeClr val="bg2"/>
              </a:solidFill>
            </a:endParaRPr>
          </a:p>
          <a:p>
            <a:endParaRPr lang="en-US" sz="1800" dirty="0">
              <a:solidFill>
                <a:schemeClr val="bg2"/>
              </a:solidFill>
            </a:endParaRPr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9387A1-484D-D726-564E-7CCE73972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29" b="9566"/>
          <a:stretch>
            <a:fillRect/>
          </a:stretch>
        </p:blipFill>
        <p:spPr>
          <a:xfrm>
            <a:off x="1430000" y="1076917"/>
            <a:ext cx="6507017" cy="447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C0A4F4-2F01-03E8-57DD-835EE3DF6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04" b="9544"/>
          <a:stretch>
            <a:fillRect/>
          </a:stretch>
        </p:blipFill>
        <p:spPr>
          <a:xfrm>
            <a:off x="1429995" y="3188595"/>
            <a:ext cx="3634368" cy="25924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D8D3F3-2439-8FC6-4C15-222BFF11E0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94" t="1771" r="594" b="9680"/>
          <a:stretch>
            <a:fillRect/>
          </a:stretch>
        </p:blipFill>
        <p:spPr>
          <a:xfrm>
            <a:off x="5830277" y="3188595"/>
            <a:ext cx="3836276" cy="25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30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87BBA-7856-D45A-4C9E-3D42AAD1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B797D47E-D9FE-903D-7082-3EEFC133D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94427"/>
            <a:ext cx="10439400" cy="1325563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chemeClr val="bg2"/>
                </a:solidFill>
              </a:rPr>
              <a:t>Enese </a:t>
            </a:r>
            <a:r>
              <a:rPr lang="en-GB" sz="2800" b="1" dirty="0" err="1">
                <a:solidFill>
                  <a:schemeClr val="bg2"/>
                </a:solidFill>
              </a:rPr>
              <a:t>hinnang</a:t>
            </a:r>
            <a:r>
              <a:rPr lang="en-GB" sz="2800" b="1" dirty="0">
                <a:solidFill>
                  <a:schemeClr val="bg2"/>
                </a:solidFill>
              </a:rPr>
              <a:t> </a:t>
            </a:r>
            <a:r>
              <a:rPr lang="en-GB" sz="2800" b="1" dirty="0" err="1">
                <a:solidFill>
                  <a:schemeClr val="bg2"/>
                </a:solidFill>
              </a:rPr>
              <a:t>seikluslikkusele</a:t>
            </a:r>
            <a:r>
              <a:rPr lang="en-GB" sz="2800" b="1" dirty="0">
                <a:solidFill>
                  <a:schemeClr val="bg2"/>
                </a:solidFill>
              </a:rPr>
              <a:t>  </a:t>
            </a:r>
            <a:r>
              <a:rPr lang="en-GB" sz="2800" b="1" dirty="0">
                <a:solidFill>
                  <a:schemeClr val="accent1"/>
                </a:solidFill>
              </a:rPr>
              <a:t>versus </a:t>
            </a:r>
            <a:r>
              <a:rPr lang="en-GB" sz="2800" b="1" dirty="0" err="1">
                <a:solidFill>
                  <a:schemeClr val="accent1"/>
                </a:solidFill>
              </a:rPr>
              <a:t>valitud</a:t>
            </a:r>
            <a:r>
              <a:rPr lang="en-GB" sz="2800" b="1" dirty="0">
                <a:solidFill>
                  <a:schemeClr val="accent1"/>
                </a:solidFill>
              </a:rPr>
              <a:t> </a:t>
            </a:r>
            <a:r>
              <a:rPr lang="en-GB" sz="2800" b="1" dirty="0" err="1">
                <a:solidFill>
                  <a:schemeClr val="accent1"/>
                </a:solidFill>
              </a:rPr>
              <a:t>supervõime</a:t>
            </a:r>
            <a:br>
              <a:rPr lang="en-GB" sz="2800" dirty="0"/>
            </a:br>
            <a:endParaRPr lang="en-US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EC0E26C-66A3-9758-1D61-B40E502B2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853" y="1819990"/>
            <a:ext cx="3636224" cy="3813323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solidFill>
                  <a:schemeClr val="bg2"/>
                </a:solidFill>
              </a:rPr>
              <a:t>Kõik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vastajad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hindasid</a:t>
            </a:r>
            <a:r>
              <a:rPr lang="en-US" dirty="0">
                <a:solidFill>
                  <a:schemeClr val="bg2"/>
                </a:solidFill>
              </a:rPr>
              <a:t> 1-5 </a:t>
            </a:r>
            <a:r>
              <a:rPr lang="en-US" dirty="0" err="1">
                <a:solidFill>
                  <a:schemeClr val="bg2"/>
                </a:solidFill>
              </a:rPr>
              <a:t>skaalal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enda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seikluslikkuseks</a:t>
            </a:r>
            <a:r>
              <a:rPr lang="en-US" dirty="0">
                <a:solidFill>
                  <a:schemeClr val="bg2"/>
                </a:solidFill>
              </a:rPr>
              <a:t> 2 ja </a:t>
            </a:r>
            <a:r>
              <a:rPr lang="en-US" dirty="0" err="1">
                <a:solidFill>
                  <a:schemeClr val="bg2"/>
                </a:solidFill>
              </a:rPr>
              <a:t>enam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 err="1">
                <a:solidFill>
                  <a:schemeClr val="bg2"/>
                </a:solidFill>
              </a:rPr>
              <a:t>Hinnanguks</a:t>
            </a:r>
            <a:r>
              <a:rPr lang="en-US" dirty="0">
                <a:solidFill>
                  <a:schemeClr val="bg2"/>
                </a:solidFill>
              </a:rPr>
              <a:t> 4 on </a:t>
            </a:r>
            <a:r>
              <a:rPr lang="en-US" dirty="0" err="1">
                <a:solidFill>
                  <a:schemeClr val="bg2"/>
                </a:solidFill>
              </a:rPr>
              <a:t>valinud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rohkem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kui</a:t>
            </a:r>
            <a:r>
              <a:rPr lang="en-US" dirty="0">
                <a:solidFill>
                  <a:schemeClr val="bg2"/>
                </a:solidFill>
              </a:rPr>
              <a:t> pooled </a:t>
            </a:r>
            <a:r>
              <a:rPr lang="en-US" dirty="0" err="1">
                <a:solidFill>
                  <a:schemeClr val="bg2"/>
                </a:solidFill>
              </a:rPr>
              <a:t>vastajatest</a:t>
            </a:r>
            <a:r>
              <a:rPr lang="en-US" dirty="0">
                <a:solidFill>
                  <a:schemeClr val="bg2"/>
                </a:solidFill>
              </a:rPr>
              <a:t> (9)</a:t>
            </a:r>
          </a:p>
          <a:p>
            <a:r>
              <a:rPr lang="en-US" dirty="0">
                <a:solidFill>
                  <a:schemeClr val="bg2"/>
                </a:solidFill>
              </a:rPr>
              <a:t>– </a:t>
            </a:r>
            <a:r>
              <a:rPr lang="en-US" dirty="0" err="1">
                <a:solidFill>
                  <a:schemeClr val="bg2"/>
                </a:solidFill>
              </a:rPr>
              <a:t>suur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osa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neist</a:t>
            </a:r>
            <a:r>
              <a:rPr lang="en-US" dirty="0">
                <a:solidFill>
                  <a:schemeClr val="bg2"/>
                </a:solidFill>
              </a:rPr>
              <a:t> on </a:t>
            </a:r>
            <a:r>
              <a:rPr lang="en-US" dirty="0" err="1">
                <a:solidFill>
                  <a:schemeClr val="bg2"/>
                </a:solidFill>
              </a:rPr>
              <a:t>märkinud</a:t>
            </a:r>
            <a:r>
              <a:rPr lang="en-US" dirty="0">
                <a:solidFill>
                  <a:schemeClr val="bg2"/>
                </a:solidFill>
              </a:rPr>
              <a:t> ka </a:t>
            </a:r>
            <a:r>
              <a:rPr lang="en-US" dirty="0" err="1">
                <a:solidFill>
                  <a:schemeClr val="bg2"/>
                </a:solidFill>
              </a:rPr>
              <a:t>enda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kangelase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supervõimeks</a:t>
            </a:r>
            <a:r>
              <a:rPr lang="en-US" dirty="0">
                <a:solidFill>
                  <a:schemeClr val="bg2"/>
                </a:solidFill>
              </a:rPr>
              <a:t> just </a:t>
            </a:r>
            <a:r>
              <a:rPr lang="en-US" dirty="0" err="1">
                <a:solidFill>
                  <a:schemeClr val="bg2"/>
                </a:solidFill>
              </a:rPr>
              <a:t>julguse</a:t>
            </a:r>
            <a:r>
              <a:rPr lang="en-US" dirty="0">
                <a:solidFill>
                  <a:schemeClr val="bg2"/>
                </a:solidFill>
              </a:rPr>
              <a:t> ja </a:t>
            </a:r>
            <a:r>
              <a:rPr lang="en-US" dirty="0" err="1">
                <a:solidFill>
                  <a:schemeClr val="bg2"/>
                </a:solidFill>
              </a:rPr>
              <a:t>seikluslikkuse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BFC8A4-6499-AF3B-CF56-01267FB4B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489" y="1819990"/>
            <a:ext cx="3954305" cy="34413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10D77E-E78D-F373-EF2C-9347D65AB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37" y="1819990"/>
            <a:ext cx="1389982" cy="344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4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EAD8A-1392-61D6-04D0-D5425DCC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575A102-D95D-4D6E-8F1B-49EED0AE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F0FFF1F-79B6-4A13-A464-070CD6F89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42198" y="814999"/>
            <a:ext cx="465458" cy="581435"/>
            <a:chOff x="10942198" y="814999"/>
            <a:chExt cx="465458" cy="581435"/>
          </a:xfrm>
          <a:solidFill>
            <a:srgbClr val="FFFFFF"/>
          </a:solidFill>
        </p:grpSpPr>
        <p:sp>
          <p:nvSpPr>
            <p:cNvPr id="38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7738" y="81499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9" name="Graphic 15">
              <a:extLst>
                <a:ext uri="{FF2B5EF4-FFF2-40B4-BE49-F238E27FC236}">
                  <a16:creationId xmlns:a16="http://schemas.microsoft.com/office/drawing/2014/main" id="{8550FED7-7C32-42BB-98DB-30272A633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16518" y="104429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0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2198" y="1268720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9322" y="6274341"/>
            <a:ext cx="11353800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1A272CB-C7BA-9A60-6DF0-17DA5D6F7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2" b="8489"/>
          <a:stretch>
            <a:fillRect/>
          </a:stretch>
        </p:blipFill>
        <p:spPr>
          <a:xfrm>
            <a:off x="1637881" y="1680959"/>
            <a:ext cx="8916237" cy="250768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BE75E5-993A-EDF9-EF5F-1290B9745905}"/>
              </a:ext>
            </a:extLst>
          </p:cNvPr>
          <p:cNvSpPr txBox="1">
            <a:spLocks/>
          </p:cNvSpPr>
          <p:nvPr/>
        </p:nvSpPr>
        <p:spPr>
          <a:xfrm>
            <a:off x="1411003" y="4695567"/>
            <a:ext cx="9685774" cy="1347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2000" dirty="0" err="1">
                <a:solidFill>
                  <a:schemeClr val="bg2"/>
                </a:solidFill>
              </a:rPr>
              <a:t>Tulemuste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põhjal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võib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järeldada</a:t>
            </a:r>
            <a:r>
              <a:rPr lang="en-GB" sz="2000" dirty="0">
                <a:solidFill>
                  <a:schemeClr val="bg2"/>
                </a:solidFill>
              </a:rPr>
              <a:t>, et </a:t>
            </a:r>
            <a:r>
              <a:rPr lang="en-GB" sz="2000" dirty="0" err="1">
                <a:solidFill>
                  <a:schemeClr val="bg2"/>
                </a:solidFill>
              </a:rPr>
              <a:t>vastajad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soovivad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oma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filmis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eelkõige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näha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humoorikaid</a:t>
            </a:r>
            <a:r>
              <a:rPr lang="en-GB" sz="2000" dirty="0">
                <a:solidFill>
                  <a:schemeClr val="bg2"/>
                </a:solidFill>
              </a:rPr>
              <a:t>, </a:t>
            </a:r>
            <a:r>
              <a:rPr lang="en-GB" sz="2000" dirty="0" err="1">
                <a:solidFill>
                  <a:schemeClr val="bg2"/>
                </a:solidFill>
              </a:rPr>
              <a:t>sõprusele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ja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seiklustele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keskenduvaid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tegevusi</a:t>
            </a:r>
            <a:r>
              <a:rPr lang="en-GB" sz="2000" dirty="0">
                <a:solidFill>
                  <a:schemeClr val="bg2"/>
                </a:solidFill>
              </a:rPr>
              <a:t>. </a:t>
            </a:r>
            <a:r>
              <a:rPr lang="en-GB" sz="2000" dirty="0" err="1">
                <a:solidFill>
                  <a:schemeClr val="bg2"/>
                </a:solidFill>
              </a:rPr>
              <a:t>Vähem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tähtsaks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peetakse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tehnoloogilist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keerukust</a:t>
            </a:r>
            <a:r>
              <a:rPr lang="en-GB" sz="2000" dirty="0">
                <a:solidFill>
                  <a:schemeClr val="bg2"/>
                </a:solidFill>
              </a:rPr>
              <a:t>, </a:t>
            </a:r>
            <a:r>
              <a:rPr lang="en-GB" sz="2000" dirty="0" err="1">
                <a:solidFill>
                  <a:schemeClr val="bg2"/>
                </a:solidFill>
              </a:rPr>
              <a:t>tugevat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pinget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või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kunstilist</a:t>
            </a:r>
            <a:r>
              <a:rPr lang="en-GB" sz="2000" dirty="0">
                <a:solidFill>
                  <a:schemeClr val="bg2"/>
                </a:solidFill>
              </a:rPr>
              <a:t> </a:t>
            </a:r>
            <a:r>
              <a:rPr lang="en-GB" sz="2000" dirty="0" err="1">
                <a:solidFill>
                  <a:schemeClr val="bg2"/>
                </a:solidFill>
              </a:rPr>
              <a:t>eksperimenteerimist</a:t>
            </a:r>
            <a:r>
              <a:rPr lang="en-GB" sz="2000" dirty="0">
                <a:solidFill>
                  <a:schemeClr val="bg2"/>
                </a:solidFill>
              </a:rPr>
              <a:t>.</a:t>
            </a:r>
            <a:endParaRPr lang="en-US" sz="2000" dirty="0">
              <a:solidFill>
                <a:schemeClr val="bg2"/>
              </a:solidFill>
            </a:endParaRP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7610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7E50259-25E7-28C7-FE8B-D68906E80B45}"/>
              </a:ext>
            </a:extLst>
          </p:cNvPr>
          <p:cNvSpPr txBox="1"/>
          <p:nvPr/>
        </p:nvSpPr>
        <p:spPr>
          <a:xfrm>
            <a:off x="7717134" y="3624362"/>
            <a:ext cx="2753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/>
                </a:solidFill>
              </a:rPr>
              <a:t>Mida </a:t>
            </a:r>
            <a:r>
              <a:rPr lang="en-GB" dirty="0" err="1">
                <a:solidFill>
                  <a:schemeClr val="accent1"/>
                </a:solidFill>
              </a:rPr>
              <a:t>vanem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grupp</a:t>
            </a:r>
            <a:r>
              <a:rPr lang="en-GB" dirty="0">
                <a:solidFill>
                  <a:schemeClr val="accent1"/>
                </a:solidFill>
              </a:rPr>
              <a:t>, </a:t>
            </a:r>
            <a:r>
              <a:rPr lang="en-GB" dirty="0" err="1">
                <a:solidFill>
                  <a:schemeClr val="accent1"/>
                </a:solidFill>
              </a:rPr>
              <a:t>seda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vähem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tahetakse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närvikõdi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ja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keerukust</a:t>
            </a:r>
            <a:r>
              <a:rPr lang="en-GB" dirty="0">
                <a:solidFill>
                  <a:schemeClr val="accent1"/>
                </a:solidFill>
              </a:rPr>
              <a:t>. </a:t>
            </a:r>
            <a:r>
              <a:rPr lang="en-GB" dirty="0" err="1">
                <a:solidFill>
                  <a:schemeClr val="accent1"/>
                </a:solidFill>
              </a:rPr>
              <a:t>Rohkem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hinnatakse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selget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ja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positiivset</a:t>
            </a:r>
            <a:r>
              <a:rPr lang="en-GB" dirty="0">
                <a:solidFill>
                  <a:schemeClr val="accent1"/>
                </a:solidFill>
              </a:rPr>
              <a:t> sisu.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F4DDB2-469A-8435-3B0B-5BBF94C2F3AF}"/>
              </a:ext>
            </a:extLst>
          </p:cNvPr>
          <p:cNvSpPr txBox="1"/>
          <p:nvPr/>
        </p:nvSpPr>
        <p:spPr>
          <a:xfrm>
            <a:off x="7717134" y="1294646"/>
            <a:ext cx="2873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accent1"/>
                </a:solidFill>
              </a:rPr>
              <a:t>Nooremates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gruppides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soovitakse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oma</a:t>
            </a:r>
            <a:r>
              <a:rPr lang="en-GB" dirty="0">
                <a:solidFill>
                  <a:schemeClr val="accent1"/>
                </a:solidFill>
              </a:rPr>
              <a:t> filmi </a:t>
            </a:r>
            <a:r>
              <a:rPr lang="en-GB" dirty="0" err="1">
                <a:solidFill>
                  <a:schemeClr val="accent1"/>
                </a:solidFill>
              </a:rPr>
              <a:t>rohkelt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tegevusi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ja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põnevust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7" name="Picture 1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0656800-31F3-96D7-79B2-8BD948CC7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34" y="681037"/>
            <a:ext cx="68580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22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E6268D-EB9F-05EB-D1A7-7EC58AF0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Tänan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vaatamast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8CFB4-E487-E4A2-3633-ADABDD125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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10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</TotalTime>
  <Words>220</Words>
  <Application>Microsoft Office PowerPoint</Application>
  <PresentationFormat>Widescreen</PresentationFormat>
  <Paragraphs>18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Elu kui film: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Enese hinnang seikluslikkusele  versus valitud supervõime </vt:lpstr>
      <vt:lpstr>PowerPoint Presentation</vt:lpstr>
      <vt:lpstr>PowerPoint Presentation</vt:lpstr>
      <vt:lpstr>Tänan vaatamast!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Kätly A</dc:creator>
  <cp:lastModifiedBy>Kätly A</cp:lastModifiedBy>
  <cp:revision>4</cp:revision>
  <dcterms:created xsi:type="dcterms:W3CDTF">2026-02-12T21:35:08Z</dcterms:created>
  <dcterms:modified xsi:type="dcterms:W3CDTF">2026-02-13T08:27:04Z</dcterms:modified>
</cp:coreProperties>
</file>